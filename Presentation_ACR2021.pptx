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6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32"/>
  </p:notesMasterIdLst>
  <p:sldIdLst>
    <p:sldId id="256" r:id="rId2"/>
    <p:sldId id="463" r:id="rId3"/>
    <p:sldId id="481" r:id="rId4"/>
    <p:sldId id="482" r:id="rId5"/>
    <p:sldId id="466" r:id="rId6"/>
    <p:sldId id="464" r:id="rId7"/>
    <p:sldId id="478" r:id="rId8"/>
    <p:sldId id="474" r:id="rId9"/>
    <p:sldId id="477" r:id="rId10"/>
    <p:sldId id="504" r:id="rId11"/>
    <p:sldId id="484" r:id="rId12"/>
    <p:sldId id="485" r:id="rId13"/>
    <p:sldId id="486" r:id="rId14"/>
    <p:sldId id="487" r:id="rId15"/>
    <p:sldId id="490" r:id="rId16"/>
    <p:sldId id="489" r:id="rId17"/>
    <p:sldId id="492" r:id="rId18"/>
    <p:sldId id="493" r:id="rId19"/>
    <p:sldId id="494" r:id="rId20"/>
    <p:sldId id="495" r:id="rId21"/>
    <p:sldId id="496" r:id="rId22"/>
    <p:sldId id="497" r:id="rId23"/>
    <p:sldId id="498" r:id="rId24"/>
    <p:sldId id="502" r:id="rId25"/>
    <p:sldId id="503" r:id="rId26"/>
    <p:sldId id="500" r:id="rId27"/>
    <p:sldId id="480" r:id="rId28"/>
    <p:sldId id="473" r:id="rId29"/>
    <p:sldId id="472" r:id="rId30"/>
    <p:sldId id="47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34817"/>
    <a:srgbClr val="000000"/>
    <a:srgbClr val="94A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89189" autoAdjust="0"/>
  </p:normalViewPr>
  <p:slideViewPr>
    <p:cSldViewPr>
      <p:cViewPr varScale="1">
        <p:scale>
          <a:sx n="42" d="100"/>
          <a:sy n="42" d="100"/>
        </p:scale>
        <p:origin x="78" y="3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9CC83-5738-441F-B08E-90C86A4CF5ED}" type="datetimeFigureOut">
              <a:rPr lang="en-US" smtClean="0"/>
              <a:t>10/29/2021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FF2AB-CBED-4804-B99F-8BA1BED6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45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52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1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02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76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06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80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1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53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88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30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40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72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710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889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73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89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363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91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206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42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094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498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30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059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538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Outliers</a:t>
            </a:r>
            <a:r>
              <a:rPr lang="fr-FR" dirty="0"/>
              <a:t> are 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683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988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FF2AB-CBED-4804-B99F-8BA1BED6E4F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56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7F3667-90D9-4925-928B-BD2B6CFD2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F606191-A088-4326-85D6-A3E00A7CB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E220F0-0F13-42C0-84A0-ABC52BE8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68FD21-F2F6-41C2-97C6-D4A82CB3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BA84E6-4642-43AB-A0F8-A11AB0AC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34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8AB06E-D905-4E87-8F66-09063719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4D45D8-F7C6-43DA-9801-3EB63AB8E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AA8E7C-7E9D-4A70-A03E-C8E6DABA4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39B432-6FF1-4A74-A929-3E91D0279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5ED949-16C3-4DA4-8CBD-D8B406F7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072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A605AA-3CAA-4712-ADB4-3912E10B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D96D3A-ADF0-4058-808F-954EEE390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C9A71F-09BF-432D-9310-0AF072D7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F407F1-B408-4040-8EC5-30DA1265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BFE69E-82AE-48E3-8541-3E24A930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798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D2ECCB-0FE6-4D62-A039-BA245D28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EF9111-21AD-4210-9520-32B0EC36E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CA7B82-8619-4EF4-97F8-D3F0F2F46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9BC481-1C39-4839-8A0B-90D37DFE0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3381A8-CDC8-4049-BD4A-5C99A372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CA65A5-093A-4D7A-8376-2659B077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20208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A15708-424D-484C-BC97-F8FC93AE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31235E-633A-400B-9EAE-F0CF8802B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07EF3B-9CE7-481D-814C-8EEAF6D41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30341C8-47B5-4A6D-8735-6418530AA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50D1F3-7210-4449-9605-FBE2A9B38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68667D-916C-44D4-97AC-B6F6441A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F43CC07-6AE7-46BF-9EB7-55E73F83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322579-6C74-41BC-82BF-0EF8391F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494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2E5FC-7883-4801-B4AF-91563A27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A064C29-3D6C-4647-B9B3-B351C25B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7ABC07-E9F1-4270-B872-5D984983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5D44C9-3AA5-4498-B82C-4880B51C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45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F89E93-158D-4B71-96C5-BB4F4FD5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4AC0A96-5BDB-4E83-A8EC-1282EDDD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0E51E5-B76E-456B-B9D2-083FD167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76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39EEF-C34F-49A6-84A8-D6E97935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6FF251-6518-4675-8961-3BFF504F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5FDC4F-4F28-4EB4-B2A9-8A004C0DC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C85163-7F30-41F2-80AE-EE75ED0C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C4E2C1-DA0A-4E89-9198-08DDD7B1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94E03A-A99E-4048-93A3-25A00291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0662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D63BA-450B-4D92-9E4A-708C9E6A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A2DAC56-A75D-4B56-AF93-3C57DA695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C9513D3-8DF2-4E2C-953A-3AD216433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5DE322-2895-4ADC-9F7C-302A33EA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63067B-D9D4-4A58-A1DB-4AFA57D8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6AE346-68B4-4686-8300-ADBD12A2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6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1101B8-E8EB-462D-B1B5-A8619F0C5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89923A-0178-4EF9-AF27-480671972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B51736-AD55-4101-ABB6-8F114651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CDC417-B00D-42D8-8A8A-0366690A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526B47-2545-455E-8039-F0A1CD0B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8283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5894F13-DC61-4A8C-94D3-E8D244B2A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9CDC11-9878-4E8E-A1E9-A1BDE10A3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87E1BC-3E1B-43A6-AEA1-C41ED427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2A19FC-E996-4D43-AE4A-C446AE46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1DC858-69E7-437F-9CFD-6DC25F83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602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A94F81F-D84C-43C0-B7B1-DF0B2692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9B7410-1B84-470B-9155-3F4380645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5EF1AD-4502-4387-9F8D-AC96C52DD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C9255-5673-42C8-BC86-9469CAC9CDB5}" type="datetimeFigureOut">
              <a:rPr lang="fr-FR" smtClean="0"/>
              <a:t>29/10/2021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3CF075-415F-4B74-B909-4CB638FD9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52C725-3BFF-4C48-AAFE-F82BF2481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46E70-9E12-4A71-B768-7526A44536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35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quentinandre.net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42397-52A9-4CB9-9108-3B8F7E114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fr-FR" sz="5400" dirty="0" err="1"/>
              <a:t>Outlier</a:t>
            </a:r>
            <a:r>
              <a:rPr lang="fr-FR" sz="5400" dirty="0"/>
              <a:t> Exclusion </a:t>
            </a:r>
            <a:r>
              <a:rPr lang="fr-FR" sz="5400" dirty="0" err="1"/>
              <a:t>Procedures</a:t>
            </a:r>
            <a:r>
              <a:rPr lang="fr-FR" sz="5400" dirty="0"/>
              <a:t> Must Be </a:t>
            </a:r>
            <a:r>
              <a:rPr lang="fr-FR" sz="5400" dirty="0" err="1"/>
              <a:t>Hypothesis</a:t>
            </a:r>
            <a:r>
              <a:rPr lang="fr-FR" sz="5400" dirty="0"/>
              <a:t>-Blind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F90DDC-E7BD-4766-9284-B54A9C5CA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Quentin André</a:t>
            </a:r>
          </a:p>
        </p:txBody>
      </p:sp>
    </p:spTree>
    <p:extLst>
      <p:ext uri="{BB962C8B-B14F-4D97-AF65-F5344CB8AC3E}">
        <p14:creationId xmlns:p14="http://schemas.microsoft.com/office/powerpoint/2010/main" val="57716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39"/>
    </mc:Choice>
    <mc:Fallback xmlns="">
      <p:transition spd="slow" advTm="97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Outliers</a:t>
            </a:r>
            <a:r>
              <a:rPr lang="fr-FR" dirty="0"/>
              <a:t>?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CC8B516-0F0F-47E0-A2AC-8FD91A2B4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9000"/>
            <a:ext cx="10515600" cy="3240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3200" dirty="0"/>
              <a:t>It </a:t>
            </a:r>
            <a:r>
              <a:rPr lang="fr-FR" sz="3200" dirty="0" err="1"/>
              <a:t>is</a:t>
            </a:r>
            <a:r>
              <a:rPr lang="fr-FR" sz="3200" dirty="0"/>
              <a:t> </a:t>
            </a:r>
            <a:r>
              <a:rPr lang="fr-FR" sz="3200" dirty="0" err="1"/>
              <a:t>common</a:t>
            </a:r>
            <a:r>
              <a:rPr lang="fr-FR" sz="3200" dirty="0"/>
              <a:t> to </a:t>
            </a:r>
            <a:r>
              <a:rPr lang="fr-FR" sz="3200" dirty="0" err="1"/>
              <a:t>identify</a:t>
            </a:r>
            <a:r>
              <a:rPr lang="fr-FR" sz="3200" dirty="0"/>
              <a:t> (and </a:t>
            </a:r>
            <a:r>
              <a:rPr lang="fr-FR" sz="3200" dirty="0" err="1"/>
              <a:t>often</a:t>
            </a:r>
            <a:r>
              <a:rPr lang="fr-FR" sz="3200" dirty="0"/>
              <a:t> </a:t>
            </a:r>
            <a:r>
              <a:rPr lang="fr-FR" sz="3200" dirty="0" err="1"/>
              <a:t>exclude</a:t>
            </a:r>
            <a:r>
              <a:rPr lang="fr-FR" sz="3200" dirty="0"/>
              <a:t>) </a:t>
            </a:r>
            <a:r>
              <a:rPr lang="fr-FR" sz="3200" dirty="0" err="1"/>
              <a:t>outliers</a:t>
            </a:r>
            <a:r>
              <a:rPr lang="fr-FR" sz="3200" dirty="0"/>
              <a:t>:</a:t>
            </a:r>
          </a:p>
          <a:p>
            <a:pPr marL="0" indent="0" algn="ctr">
              <a:buNone/>
            </a:pPr>
            <a:endParaRPr lang="fr-FR" sz="3200" dirty="0"/>
          </a:p>
          <a:p>
            <a:pPr marL="0" indent="0" algn="ctr">
              <a:buNone/>
            </a:pPr>
            <a:r>
              <a:rPr lang="fr-FR" sz="3200" dirty="0"/>
              <a:t>Values </a:t>
            </a:r>
            <a:r>
              <a:rPr lang="fr-FR" sz="3200" dirty="0" err="1"/>
              <a:t>that</a:t>
            </a:r>
            <a:r>
              <a:rPr lang="fr-FR" sz="3200" dirty="0"/>
              <a:t> are « </a:t>
            </a:r>
            <a:r>
              <a:rPr lang="fr-FR" sz="3200" dirty="0" err="1"/>
              <a:t>too</a:t>
            </a:r>
            <a:r>
              <a:rPr lang="fr-FR" sz="3200" dirty="0"/>
              <a:t> far </a:t>
            </a:r>
            <a:r>
              <a:rPr lang="fr-FR" sz="3200" dirty="0" err="1"/>
              <a:t>removed</a:t>
            </a:r>
            <a:r>
              <a:rPr lang="fr-FR" sz="3200" dirty="0"/>
              <a:t> » </a:t>
            </a:r>
            <a:r>
              <a:rPr lang="fr-FR" sz="3200" dirty="0" err="1"/>
              <a:t>from</a:t>
            </a:r>
            <a:r>
              <a:rPr lang="fr-FR" sz="3200" dirty="0"/>
              <a:t> the </a:t>
            </a:r>
            <a:r>
              <a:rPr lang="fr-FR" sz="3200" dirty="0" err="1"/>
              <a:t>rest</a:t>
            </a:r>
            <a:r>
              <a:rPr lang="fr-FR" sz="3200" dirty="0"/>
              <a:t> of the data</a:t>
            </a:r>
          </a:p>
          <a:p>
            <a:pPr marL="0" indent="0" algn="ctr">
              <a:buNone/>
            </a:pPr>
            <a:endParaRPr lang="fr-FR" sz="3200" dirty="0"/>
          </a:p>
          <a:p>
            <a:pPr marL="0" indent="0" algn="ctr">
              <a:buNone/>
            </a:pPr>
            <a:r>
              <a:rPr lang="fr-FR" sz="3200" dirty="0"/>
              <a:t>… But </a:t>
            </a:r>
            <a:r>
              <a:rPr lang="fr-FR" sz="3200" dirty="0" err="1"/>
              <a:t>from</a:t>
            </a:r>
            <a:r>
              <a:rPr lang="fr-FR" sz="3200" dirty="0"/>
              <a:t> the </a:t>
            </a:r>
            <a:r>
              <a:rPr lang="fr-FR" sz="3200" dirty="0" err="1"/>
              <a:t>rest</a:t>
            </a:r>
            <a:r>
              <a:rPr lang="fr-FR" sz="3200" dirty="0"/>
              <a:t> of </a:t>
            </a:r>
            <a:r>
              <a:rPr lang="fr-FR" sz="3200" dirty="0" err="1"/>
              <a:t>which</a:t>
            </a:r>
            <a:r>
              <a:rPr lang="fr-FR" sz="3200" dirty="0"/>
              <a:t> data?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448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824"/>
    </mc:Choice>
    <mc:Fallback xmlns="">
      <p:transition spd="slow" advTm="298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 Illustration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Boxplot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C58C56D-FF2F-4A56-A93A-8EE2A7E60F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3629" y="2233839"/>
            <a:ext cx="5734680" cy="358648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452C676-7657-4E2A-92B1-EED188888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6000" y="2233839"/>
            <a:ext cx="3825000" cy="35901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95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71"/>
    </mc:Choice>
    <mc:Fallback xmlns="">
      <p:transition spd="slow" advTm="46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Has Been </a:t>
            </a:r>
            <a:r>
              <a:rPr lang="fr-FR" dirty="0" err="1"/>
              <a:t>Argued</a:t>
            </a:r>
            <a:r>
              <a:rPr lang="fr-FR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E80EE-A43E-423A-8BF1-A5B245B45071}"/>
              </a:ext>
            </a:extLst>
          </p:cNvPr>
          <p:cNvSpPr txBox="1"/>
          <p:nvPr/>
        </p:nvSpPr>
        <p:spPr>
          <a:xfrm>
            <a:off x="1899000" y="3339000"/>
            <a:ext cx="8320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0" i="1" u="none" strike="noStrike" baseline="0" dirty="0">
                <a:latin typeface="Times New Roman" panose="02020603050405020304" pitchFamily="18" charset="0"/>
              </a:rPr>
              <a:t>“[…] the outliers should first be searched for within condition across the participants.”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E0B540-0593-4D62-81EF-A91FF60DDA0B}"/>
              </a:ext>
            </a:extLst>
          </p:cNvPr>
          <p:cNvSpPr txBox="1"/>
          <p:nvPr/>
        </p:nvSpPr>
        <p:spPr>
          <a:xfrm>
            <a:off x="1972500" y="4914000"/>
            <a:ext cx="8247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i="1" dirty="0">
                <a:effectLst/>
                <a:latin typeface="Times New Roman" panose="02020603050405020304" pitchFamily="18" charset="0"/>
              </a:rPr>
              <a:t>“Furthermore, the exclusion rule should be applied by condition. That is, we need to use the standard deviation and mean of the condition in which the outlier occurs.”</a:t>
            </a:r>
            <a:endParaRPr lang="en-US" sz="28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F860EC-F8A1-4725-8B1F-3807D48D1BDA}"/>
              </a:ext>
            </a:extLst>
          </p:cNvPr>
          <p:cNvSpPr txBox="1"/>
          <p:nvPr/>
        </p:nvSpPr>
        <p:spPr>
          <a:xfrm>
            <a:off x="1972500" y="1889463"/>
            <a:ext cx="8247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u="none" strike="noStrike" baseline="0" dirty="0">
                <a:latin typeface="Times New Roman" panose="02020603050405020304" pitchFamily="18" charset="0"/>
              </a:rPr>
              <a:t>“…”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241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71"/>
    </mc:Choice>
    <mc:Fallback xmlns="">
      <p:transition spd="slow" advTm="46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Correct </a:t>
            </a:r>
            <a:r>
              <a:rPr lang="fr-FR" dirty="0" err="1"/>
              <a:t>Answer</a:t>
            </a:r>
            <a:r>
              <a:rPr lang="fr-FR" dirty="0"/>
              <a:t>?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452C676-7657-4E2A-92B1-EED188888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4560" y="2313655"/>
            <a:ext cx="3825000" cy="3590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89F105-9F4A-401A-AFB2-4F975A70D65F}"/>
              </a:ext>
            </a:extLst>
          </p:cNvPr>
          <p:cNvSpPr/>
          <p:nvPr/>
        </p:nvSpPr>
        <p:spPr>
          <a:xfrm>
            <a:off x="7148160" y="1809000"/>
            <a:ext cx="4365000" cy="449999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98D7A63-00D0-450E-8839-941B4ECD236B}"/>
              </a:ext>
            </a:extLst>
          </p:cNvPr>
          <p:cNvSpPr txBox="1"/>
          <p:nvPr/>
        </p:nvSpPr>
        <p:spPr>
          <a:xfrm>
            <a:off x="10819560" y="1971569"/>
            <a:ext cx="45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✓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C58C56D-FF2F-4A56-A93A-8EE2A7E60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000" y="2313656"/>
            <a:ext cx="5734680" cy="358648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AF124B8A-DCD1-4A9D-90D1-B6CAAB8AD2EA}"/>
              </a:ext>
            </a:extLst>
          </p:cNvPr>
          <p:cNvSpPr txBox="1"/>
          <p:nvPr/>
        </p:nvSpPr>
        <p:spPr>
          <a:xfrm>
            <a:off x="5781000" y="1971570"/>
            <a:ext cx="45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✗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04A782-0E54-4648-99B2-7D3C93D5DBAF}"/>
              </a:ext>
            </a:extLst>
          </p:cNvPr>
          <p:cNvSpPr/>
          <p:nvPr/>
        </p:nvSpPr>
        <p:spPr>
          <a:xfrm>
            <a:off x="563520" y="1809001"/>
            <a:ext cx="5892480" cy="4499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48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71"/>
    </mc:Choice>
    <mc:Fallback xmlns="">
      <p:transition spd="slow" advTm="46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</a:t>
            </a:r>
            <a:r>
              <a:rPr lang="fr-FR" dirty="0" err="1"/>
              <a:t>Why</a:t>
            </a:r>
            <a:r>
              <a:rPr lang="fr-FR" dirty="0"/>
              <a:t>?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E07577C-A3D9-4227-AF00-B28300CE4507}"/>
              </a:ext>
            </a:extLst>
          </p:cNvPr>
          <p:cNvSpPr txBox="1">
            <a:spLocks/>
          </p:cNvSpPr>
          <p:nvPr/>
        </p:nvSpPr>
        <p:spPr>
          <a:xfrm>
            <a:off x="962760" y="1730782"/>
            <a:ext cx="10307520" cy="1421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048" lvl="2" indent="0" algn="just">
              <a:buNone/>
            </a:pPr>
            <a:r>
              <a:rPr lang="fr-FR" sz="3200" dirty="0"/>
              <a:t>In the </a:t>
            </a:r>
            <a:r>
              <a:rPr lang="fr-FR" sz="3200" dirty="0" err="1"/>
              <a:t>experiment</a:t>
            </a:r>
            <a:r>
              <a:rPr lang="fr-FR" sz="3200" dirty="0"/>
              <a:t>, </a:t>
            </a:r>
            <a:r>
              <a:rPr lang="fr-FR" sz="3200" dirty="0" err="1"/>
              <a:t>we</a:t>
            </a:r>
            <a:r>
              <a:rPr lang="fr-FR" sz="3200" dirty="0"/>
              <a:t> test </a:t>
            </a:r>
            <a:r>
              <a:rPr lang="fr-FR" sz="3200" dirty="0" err="1"/>
              <a:t>against</a:t>
            </a:r>
            <a:r>
              <a:rPr lang="fr-FR" sz="3200" dirty="0"/>
              <a:t> the </a:t>
            </a:r>
            <a:r>
              <a:rPr lang="fr-FR" sz="3200" dirty="0" err="1"/>
              <a:t>null</a:t>
            </a:r>
            <a:r>
              <a:rPr lang="fr-FR" sz="3200" dirty="0"/>
              <a:t> </a:t>
            </a:r>
            <a:r>
              <a:rPr lang="fr-FR" sz="3200" dirty="0" err="1"/>
              <a:t>that</a:t>
            </a:r>
            <a:r>
              <a:rPr lang="fr-FR" sz="3200" dirty="0"/>
              <a:t> the </a:t>
            </a:r>
            <a:r>
              <a:rPr lang="fr-FR" sz="3200" dirty="0" err="1"/>
              <a:t>responses</a:t>
            </a:r>
            <a:r>
              <a:rPr lang="fr-FR" sz="3200" dirty="0"/>
              <a:t> in </a:t>
            </a:r>
            <a:r>
              <a:rPr lang="fr-FR" sz="3200" dirty="0" err="1"/>
              <a:t>two</a:t>
            </a:r>
            <a:r>
              <a:rPr lang="fr-FR" sz="3200" dirty="0"/>
              <a:t> conditions are </a:t>
            </a:r>
            <a:r>
              <a:rPr lang="fr-FR" sz="3200" dirty="0" err="1"/>
              <a:t>drawn</a:t>
            </a:r>
            <a:r>
              <a:rPr lang="fr-FR" sz="3200" dirty="0"/>
              <a:t> </a:t>
            </a:r>
            <a:r>
              <a:rPr lang="fr-FR" sz="3200" dirty="0" err="1"/>
              <a:t>from</a:t>
            </a:r>
            <a:r>
              <a:rPr lang="fr-FR" sz="3200" dirty="0"/>
              <a:t> a </a:t>
            </a:r>
            <a:r>
              <a:rPr lang="fr-FR" sz="3200" dirty="0" err="1"/>
              <a:t>common</a:t>
            </a:r>
            <a:r>
              <a:rPr lang="fr-FR" sz="3200" dirty="0"/>
              <a:t> distribution…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E8AB8-C60C-44BB-9CD3-338CAC878FB2}"/>
              </a:ext>
            </a:extLst>
          </p:cNvPr>
          <p:cNvSpPr txBox="1"/>
          <p:nvPr/>
        </p:nvSpPr>
        <p:spPr>
          <a:xfrm>
            <a:off x="962760" y="3637391"/>
            <a:ext cx="1030752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lvl="2" algn="just">
              <a:lnSpc>
                <a:spcPct val="90000"/>
              </a:lnSpc>
              <a:spcBef>
                <a:spcPts val="500"/>
              </a:spcBef>
            </a:pPr>
            <a:r>
              <a:rPr lang="fr-FR" sz="3200" dirty="0"/>
              <a:t>… But if </a:t>
            </a:r>
            <a:r>
              <a:rPr lang="fr-FR" sz="3200" dirty="0" err="1"/>
              <a:t>we</a:t>
            </a:r>
            <a:r>
              <a:rPr lang="fr-FR" sz="3200" dirty="0"/>
              <a:t> </a:t>
            </a:r>
            <a:r>
              <a:rPr lang="fr-FR" sz="3200" dirty="0" err="1"/>
              <a:t>exclude</a:t>
            </a:r>
            <a:r>
              <a:rPr lang="fr-FR" sz="3200" dirty="0"/>
              <a:t> </a:t>
            </a:r>
            <a:r>
              <a:rPr lang="fr-FR" sz="3200" dirty="0" err="1"/>
              <a:t>outliers</a:t>
            </a:r>
            <a:r>
              <a:rPr lang="fr-FR" sz="3200" dirty="0"/>
              <a:t> by condition, </a:t>
            </a:r>
            <a:r>
              <a:rPr lang="fr-FR" sz="3200" dirty="0" err="1"/>
              <a:t>we</a:t>
            </a:r>
            <a:r>
              <a:rPr lang="fr-FR" sz="3200" dirty="0"/>
              <a:t> have </a:t>
            </a:r>
            <a:r>
              <a:rPr lang="fr-FR" sz="3200" dirty="0" err="1"/>
              <a:t>already</a:t>
            </a:r>
            <a:r>
              <a:rPr lang="fr-FR" sz="3200" dirty="0"/>
              <a:t> </a:t>
            </a:r>
            <a:r>
              <a:rPr lang="fr-FR" sz="3200" dirty="0" err="1"/>
              <a:t>rejected</a:t>
            </a:r>
            <a:r>
              <a:rPr lang="fr-FR" sz="3200" dirty="0"/>
              <a:t> the </a:t>
            </a:r>
            <a:r>
              <a:rPr lang="fr-FR" sz="3200" dirty="0" err="1"/>
              <a:t>null</a:t>
            </a:r>
            <a:r>
              <a:rPr lang="fr-FR" sz="3200" dirty="0"/>
              <a:t> </a:t>
            </a:r>
            <a:r>
              <a:rPr lang="fr-FR" sz="3200" dirty="0" err="1"/>
              <a:t>that</a:t>
            </a:r>
            <a:r>
              <a:rPr lang="fr-FR" sz="3200" dirty="0"/>
              <a:t> the </a:t>
            </a:r>
            <a:r>
              <a:rPr lang="fr-FR" sz="3200" dirty="0" err="1"/>
              <a:t>two</a:t>
            </a:r>
            <a:r>
              <a:rPr lang="fr-FR" sz="3200" dirty="0"/>
              <a:t> conditions are </a:t>
            </a:r>
            <a:r>
              <a:rPr lang="fr-FR" sz="3200" dirty="0" err="1"/>
              <a:t>drawn</a:t>
            </a:r>
            <a:r>
              <a:rPr lang="fr-FR" sz="3200" dirty="0"/>
              <a:t> </a:t>
            </a:r>
            <a:r>
              <a:rPr lang="fr-FR" sz="3200" dirty="0" err="1"/>
              <a:t>from</a:t>
            </a:r>
            <a:r>
              <a:rPr lang="fr-FR" sz="3200" dirty="0"/>
              <a:t> a </a:t>
            </a:r>
            <a:r>
              <a:rPr lang="fr-FR" sz="3200" dirty="0" err="1"/>
              <a:t>common</a:t>
            </a:r>
            <a:r>
              <a:rPr lang="fr-FR" sz="3200" dirty="0"/>
              <a:t> distribution!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4ABF1-7E51-40DB-8E27-70DF41B33FA2}"/>
              </a:ext>
            </a:extLst>
          </p:cNvPr>
          <p:cNvSpPr txBox="1"/>
          <p:nvPr/>
        </p:nvSpPr>
        <p:spPr>
          <a:xfrm>
            <a:off x="962760" y="5544000"/>
            <a:ext cx="1039104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lvl="2" algn="just">
              <a:lnSpc>
                <a:spcPct val="90000"/>
              </a:lnSpc>
              <a:spcBef>
                <a:spcPts val="500"/>
              </a:spcBef>
            </a:pPr>
            <a:r>
              <a:rPr lang="fr-FR" sz="3200" dirty="0" err="1"/>
              <a:t>Worse</a:t>
            </a:r>
            <a:r>
              <a:rPr lang="fr-FR" sz="3200" dirty="0"/>
              <a:t>, </a:t>
            </a:r>
            <a:r>
              <a:rPr lang="fr-FR" sz="3200" dirty="0" err="1"/>
              <a:t>we</a:t>
            </a:r>
            <a:r>
              <a:rPr lang="fr-FR" sz="3200" dirty="0"/>
              <a:t> are </a:t>
            </a:r>
            <a:r>
              <a:rPr lang="fr-FR" sz="3200" i="1" dirty="0" err="1"/>
              <a:t>making</a:t>
            </a:r>
            <a:r>
              <a:rPr lang="fr-FR" sz="3200" dirty="0"/>
              <a:t> the </a:t>
            </a:r>
            <a:r>
              <a:rPr lang="fr-FR" sz="3200" dirty="0" err="1"/>
              <a:t>two</a:t>
            </a:r>
            <a:r>
              <a:rPr lang="fr-FR" sz="3200" dirty="0"/>
              <a:t> conditions more </a:t>
            </a:r>
            <a:r>
              <a:rPr lang="fr-FR" sz="3200" dirty="0" err="1"/>
              <a:t>dissimilar</a:t>
            </a:r>
            <a:r>
              <a:rPr lang="fr-FR" sz="32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4463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87"/>
    </mc:Choice>
    <mc:Fallback xmlns="">
      <p:transition spd="slow" advTm="175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So?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9FDF7D-7020-4C27-9BA1-F41FBC0E7C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93"/>
          <a:stretch/>
        </p:blipFill>
        <p:spPr>
          <a:xfrm>
            <a:off x="2888735" y="1690688"/>
            <a:ext cx="3432265" cy="472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3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60"/>
    </mc:Choice>
    <mc:Fallback xmlns="">
      <p:transition spd="slow" advTm="3456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So?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9FDF7D-7020-4C27-9BA1-F41FBC0E7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735" y="1690688"/>
            <a:ext cx="6414529" cy="472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1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81"/>
    </mc:Choice>
    <mc:Fallback xmlns="">
      <p:transition spd="slow" advTm="1668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062C3-9886-41F8-BFD5-065937568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Bad Can This Be? </a:t>
            </a:r>
            <a:r>
              <a:rPr lang="fr-FR" dirty="0" err="1"/>
              <a:t>Simulated</a:t>
            </a:r>
            <a:r>
              <a:rPr lang="fr-FR" dirty="0"/>
              <a:t> </a:t>
            </a:r>
            <a:r>
              <a:rPr lang="fr-FR" dirty="0" err="1"/>
              <a:t>Experiments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3A9EFA-D1FB-47F0-A70D-376E11B75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00" y="1825625"/>
            <a:ext cx="107478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/>
              <a:t>243 </a:t>
            </a:r>
            <a:r>
              <a:rPr lang="fr-FR" dirty="0" err="1"/>
              <a:t>experimental</a:t>
            </a:r>
            <a:r>
              <a:rPr lang="fr-FR" dirty="0"/>
              <a:t> settings, </a:t>
            </a:r>
            <a:r>
              <a:rPr lang="fr-FR" dirty="0" err="1"/>
              <a:t>varying</a:t>
            </a:r>
            <a:r>
              <a:rPr lang="fr-FR" dirty="0"/>
              <a:t>:</a:t>
            </a:r>
          </a:p>
          <a:p>
            <a:pPr lvl="1"/>
            <a:r>
              <a:rPr lang="fr-FR" dirty="0" err="1"/>
              <a:t>Sample</a:t>
            </a:r>
            <a:r>
              <a:rPr lang="fr-FR" dirty="0"/>
              <a:t> sizes (N = 100, 200, 500)</a:t>
            </a:r>
          </a:p>
          <a:p>
            <a:pPr lvl="1"/>
            <a:r>
              <a:rPr lang="fr-FR" dirty="0"/>
              <a:t>Data types (Normal, Normal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Outliers</a:t>
            </a:r>
            <a:r>
              <a:rPr lang="fr-FR" dirty="0"/>
              <a:t>, Log-Normal)</a:t>
            </a:r>
          </a:p>
          <a:p>
            <a:pPr lvl="1"/>
            <a:r>
              <a:rPr lang="fr-FR" dirty="0" err="1"/>
              <a:t>Statistical</a:t>
            </a:r>
            <a:r>
              <a:rPr lang="fr-FR" dirty="0"/>
              <a:t> test (Welsch, Mann-Whitney U, Kolmogorov-Smirnov)</a:t>
            </a:r>
          </a:p>
          <a:p>
            <a:pPr lvl="1"/>
            <a:r>
              <a:rPr lang="fr-FR" dirty="0"/>
              <a:t>Exclusion </a:t>
            </a:r>
            <a:r>
              <a:rPr lang="fr-FR" dirty="0" err="1"/>
              <a:t>thresholds</a:t>
            </a:r>
            <a:r>
              <a:rPr lang="fr-FR" dirty="0"/>
              <a:t> (z-score, IQR, MAD)</a:t>
            </a:r>
          </a:p>
          <a:p>
            <a:pPr lvl="1"/>
            <a:r>
              <a:rPr lang="fr-FR" dirty="0"/>
              <a:t>Exclusion </a:t>
            </a:r>
            <a:r>
              <a:rPr lang="fr-FR" dirty="0" err="1"/>
              <a:t>methods</a:t>
            </a:r>
            <a:r>
              <a:rPr lang="fr-FR" dirty="0"/>
              <a:t> (1.5, 2, or 3 times the z-score/IQR distance/MAD)</a:t>
            </a:r>
          </a:p>
          <a:p>
            <a:pPr lvl="1"/>
            <a:endParaRPr lang="fr-FR" dirty="0"/>
          </a:p>
          <a:p>
            <a:pPr marL="0" indent="0">
              <a:buNone/>
            </a:pPr>
            <a:r>
              <a:rPr lang="fr-FR" dirty="0"/>
              <a:t>Run 20,000 </a:t>
            </a:r>
            <a:r>
              <a:rPr lang="fr-FR" dirty="0" err="1"/>
              <a:t>simulated</a:t>
            </a:r>
            <a:r>
              <a:rPr lang="fr-FR" dirty="0"/>
              <a:t> </a:t>
            </a:r>
            <a:r>
              <a:rPr lang="fr-FR" dirty="0" err="1"/>
              <a:t>experiments</a:t>
            </a:r>
            <a:r>
              <a:rPr lang="fr-FR" dirty="0"/>
              <a:t> in </a:t>
            </a:r>
            <a:r>
              <a:rPr lang="fr-FR" dirty="0" err="1"/>
              <a:t>each</a:t>
            </a:r>
            <a:r>
              <a:rPr lang="fr-FR" dirty="0"/>
              <a:t> setting, and </a:t>
            </a:r>
            <a:r>
              <a:rPr lang="fr-FR" dirty="0" err="1"/>
              <a:t>compute</a:t>
            </a:r>
            <a:r>
              <a:rPr lang="fr-FR" dirty="0"/>
              <a:t> p-values </a:t>
            </a:r>
            <a:r>
              <a:rPr lang="fr-FR" dirty="0" err="1"/>
              <a:t>with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No exclusion</a:t>
            </a:r>
          </a:p>
          <a:p>
            <a:pPr lvl="1"/>
            <a:r>
              <a:rPr lang="fr-FR" dirty="0"/>
              <a:t>Exclusions </a:t>
            </a:r>
            <a:r>
              <a:rPr lang="fr-FR" dirty="0" err="1"/>
              <a:t>across</a:t>
            </a:r>
            <a:r>
              <a:rPr lang="fr-FR" dirty="0"/>
              <a:t> data</a:t>
            </a:r>
          </a:p>
          <a:p>
            <a:pPr lvl="1"/>
            <a:r>
              <a:rPr lang="fr-FR" dirty="0"/>
              <a:t>Exclusions </a:t>
            </a:r>
            <a:r>
              <a:rPr lang="fr-FR" dirty="0" err="1"/>
              <a:t>within</a:t>
            </a:r>
            <a:r>
              <a:rPr lang="fr-FR" dirty="0"/>
              <a:t> conditions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392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291"/>
    </mc:Choice>
    <mc:Fallback xmlns="">
      <p:transition spd="slow" advTm="282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- </a:t>
            </a:r>
            <a:r>
              <a:rPr lang="fr-FR" dirty="0" err="1"/>
              <a:t>Simulated</a:t>
            </a:r>
            <a:r>
              <a:rPr lang="fr-FR" dirty="0"/>
              <a:t> </a:t>
            </a:r>
            <a:r>
              <a:rPr lang="fr-FR" dirty="0" err="1"/>
              <a:t>Experiments</a:t>
            </a:r>
            <a:endParaRPr lang="fr-FR" dirty="0"/>
          </a:p>
        </p:txBody>
      </p:sp>
      <p:pic>
        <p:nvPicPr>
          <p:cNvPr id="9" name="Picture 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3B76F340-740D-459F-86CA-261A69E73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840" y="1584000"/>
            <a:ext cx="8156978" cy="50798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47F59FE-A121-4651-8F19-C03E789E2612}"/>
              </a:ext>
            </a:extLst>
          </p:cNvPr>
          <p:cNvSpPr/>
          <p:nvPr/>
        </p:nvSpPr>
        <p:spPr>
          <a:xfrm>
            <a:off x="5331000" y="2259000"/>
            <a:ext cx="4815000" cy="81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8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- </a:t>
            </a:r>
            <a:r>
              <a:rPr lang="fr-FR" dirty="0" err="1"/>
              <a:t>Simulated</a:t>
            </a:r>
            <a:r>
              <a:rPr lang="fr-FR" dirty="0"/>
              <a:t> </a:t>
            </a:r>
            <a:r>
              <a:rPr lang="fr-FR" dirty="0" err="1"/>
              <a:t>Experiments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16956-FD40-4E25-8163-45FBA3760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1000" y="1518547"/>
            <a:ext cx="8010000" cy="496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6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- </a:t>
            </a:r>
            <a:r>
              <a:rPr lang="fr-FR" dirty="0" err="1"/>
              <a:t>Simulated</a:t>
            </a:r>
            <a:r>
              <a:rPr lang="fr-FR" dirty="0"/>
              <a:t> </a:t>
            </a:r>
            <a:r>
              <a:rPr lang="fr-FR" dirty="0" err="1"/>
              <a:t>Experiments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16956-FD40-4E25-8163-45FBA3760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1000" y="1547022"/>
            <a:ext cx="8010000" cy="490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0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- </a:t>
            </a:r>
            <a:r>
              <a:rPr lang="fr-FR" dirty="0" err="1"/>
              <a:t>Simulated</a:t>
            </a:r>
            <a:r>
              <a:rPr lang="fr-FR" dirty="0"/>
              <a:t> </a:t>
            </a:r>
            <a:r>
              <a:rPr lang="fr-FR" dirty="0" err="1"/>
              <a:t>Experiments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16956-FD40-4E25-8163-45FBA3760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6982" y="1547022"/>
            <a:ext cx="7918036" cy="490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1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A542ED0-2D31-479F-BAA1-9EE7A2DBA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547" y="0"/>
            <a:ext cx="8252906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FF5AA0-1FA0-480F-89AF-CA32E5C1ABA1}"/>
              </a:ext>
            </a:extLst>
          </p:cNvPr>
          <p:cNvSpPr/>
          <p:nvPr/>
        </p:nvSpPr>
        <p:spPr>
          <a:xfrm>
            <a:off x="1969547" y="4374000"/>
            <a:ext cx="8252906" cy="2430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69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About Real Data?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9A9497-9753-408A-81B3-1CEBDC643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02" y="1690688"/>
            <a:ext cx="10835795" cy="2340000"/>
          </a:xfrm>
          <a:prstGeom prst="rect">
            <a:avLst/>
          </a:prstGeom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7F715DBD-1738-413B-9FC4-73A0ED431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47311"/>
            <a:ext cx="10515600" cy="1729651"/>
          </a:xfrm>
        </p:spPr>
        <p:txBody>
          <a:bodyPr>
            <a:normAutofit/>
          </a:bodyPr>
          <a:lstStyle/>
          <a:p>
            <a:r>
              <a:rPr lang="fr-FR" dirty="0"/>
              <a:t>Pre-Registered + Open Data</a:t>
            </a:r>
          </a:p>
          <a:p>
            <a:endParaRPr lang="fr-FR" dirty="0"/>
          </a:p>
          <a:p>
            <a:r>
              <a:rPr lang="fr-FR" dirty="0" err="1"/>
              <a:t>Outliers</a:t>
            </a:r>
            <a:r>
              <a:rPr lang="fr-FR" dirty="0"/>
              <a:t> are </a:t>
            </a:r>
            <a:r>
              <a:rPr lang="fr-FR" dirty="0" err="1"/>
              <a:t>excluded</a:t>
            </a:r>
            <a:r>
              <a:rPr lang="fr-FR" dirty="0"/>
              <a:t> by conditions, </a:t>
            </a:r>
            <a:r>
              <a:rPr lang="fr-FR" dirty="0" err="1"/>
              <a:t>iteratively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697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About Real Data?</a:t>
            </a:r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35A5EE9B-3487-4D4A-A82E-4315401E65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050" b="50000"/>
          <a:stretch/>
        </p:blipFill>
        <p:spPr>
          <a:xfrm>
            <a:off x="2698500" y="1685118"/>
            <a:ext cx="6795000" cy="480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8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About Real Data?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44A77ED5-A466-4B74-ABE3-66C981D8DD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" t="49728" r="46699" b="272"/>
          <a:stretch/>
        </p:blipFill>
        <p:spPr>
          <a:xfrm>
            <a:off x="2496000" y="1690688"/>
            <a:ext cx="6795000" cy="480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5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Simulation – Real Data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179340E9-217B-4992-B16A-672622511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fr-FR" dirty="0" err="1"/>
              <a:t>Simulated</a:t>
            </a:r>
            <a:r>
              <a:rPr lang="fr-FR" dirty="0"/>
              <a:t> « </a:t>
            </a:r>
            <a:r>
              <a:rPr lang="fr-FR" dirty="0" err="1"/>
              <a:t>null</a:t>
            </a:r>
            <a:r>
              <a:rPr lang="fr-FR" dirty="0"/>
              <a:t> </a:t>
            </a:r>
            <a:r>
              <a:rPr lang="fr-FR" dirty="0" err="1"/>
              <a:t>datasets</a:t>
            </a:r>
            <a:r>
              <a:rPr lang="fr-FR" dirty="0"/>
              <a:t> », </a:t>
            </a:r>
            <a:r>
              <a:rPr lang="fr-FR" dirty="0" err="1"/>
              <a:t>drawn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authors</a:t>
            </a:r>
            <a:r>
              <a:rPr lang="fr-FR" dirty="0"/>
              <a:t>’ data</a:t>
            </a:r>
          </a:p>
          <a:p>
            <a:endParaRPr lang="fr-FR" dirty="0"/>
          </a:p>
          <a:p>
            <a:r>
              <a:rPr lang="fr-FR" dirty="0" err="1"/>
              <a:t>Replicate</a:t>
            </a:r>
            <a:r>
              <a:rPr lang="fr-FR" dirty="0"/>
              <a:t> the </a:t>
            </a:r>
            <a:r>
              <a:rPr lang="fr-FR" dirty="0" err="1"/>
              <a:t>authors</a:t>
            </a:r>
            <a:r>
              <a:rPr lang="fr-FR" dirty="0"/>
              <a:t>’ </a:t>
            </a:r>
            <a:r>
              <a:rPr lang="fr-FR" dirty="0" err="1"/>
              <a:t>pre-registered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, and check how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observe a false-positive in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datasets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261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– Real Data</a:t>
            </a:r>
          </a:p>
        </p:txBody>
      </p:sp>
      <p:pic>
        <p:nvPicPr>
          <p:cNvPr id="7" name="Picture 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C8D72588-B5B4-401B-BCDF-6E7CFB688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500" y="1465844"/>
            <a:ext cx="8595000" cy="539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6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– Real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D72588-B5B4-401B-BCDF-6E7CFB688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500" y="1465844"/>
            <a:ext cx="8594999" cy="539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9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– Real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D72588-B5B4-401B-BCDF-6E7CFB688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500" y="1465844"/>
            <a:ext cx="8594999" cy="539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0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– Real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D72588-B5B4-401B-BCDF-6E7CFB688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500" y="1501315"/>
            <a:ext cx="8594999" cy="532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3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</a:t>
            </a:r>
            <a:r>
              <a:rPr lang="fr-FR" dirty="0" err="1"/>
              <a:t>What</a:t>
            </a:r>
            <a:r>
              <a:rPr lang="fr-FR" dirty="0"/>
              <a:t> About Power? 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179340E9-217B-4992-B16A-672622511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68999"/>
            <a:ext cx="10515600" cy="112500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3600" dirty="0" err="1"/>
              <a:t>Within</a:t>
            </a:r>
            <a:r>
              <a:rPr lang="fr-FR" sz="3600" dirty="0"/>
              <a:t>-condition exclusions </a:t>
            </a:r>
            <a:r>
              <a:rPr lang="fr-FR" sz="3600" dirty="0" err="1"/>
              <a:t>will</a:t>
            </a:r>
            <a:r>
              <a:rPr lang="fr-FR" sz="3600" dirty="0"/>
              <a:t> </a:t>
            </a:r>
            <a:r>
              <a:rPr lang="fr-FR" sz="3600" dirty="0" err="1"/>
              <a:t>give</a:t>
            </a:r>
            <a:r>
              <a:rPr lang="fr-FR" sz="3600" dirty="0"/>
              <a:t> </a:t>
            </a:r>
            <a:r>
              <a:rPr lang="fr-FR" sz="3600" dirty="0" err="1"/>
              <a:t>you</a:t>
            </a:r>
            <a:r>
              <a:rPr lang="fr-FR" sz="3600" dirty="0"/>
              <a:t> more power to </a:t>
            </a:r>
            <a:r>
              <a:rPr lang="fr-FR" sz="3600" dirty="0" err="1"/>
              <a:t>detect</a:t>
            </a:r>
            <a:r>
              <a:rPr lang="fr-FR" sz="3600" dirty="0"/>
              <a:t> an </a:t>
            </a:r>
            <a:r>
              <a:rPr lang="fr-FR" sz="3600" dirty="0" err="1"/>
              <a:t>effect</a:t>
            </a:r>
            <a:r>
              <a:rPr lang="fr-FR" sz="3600" dirty="0"/>
              <a:t>, </a:t>
            </a:r>
            <a:r>
              <a:rPr lang="fr-FR" sz="3600" dirty="0" err="1"/>
              <a:t>so</a:t>
            </a:r>
            <a:r>
              <a:rPr lang="fr-FR" sz="3600" dirty="0"/>
              <a:t> </a:t>
            </a:r>
            <a:r>
              <a:rPr lang="fr-FR" sz="3600" dirty="0" err="1"/>
              <a:t>can’t</a:t>
            </a:r>
            <a:r>
              <a:rPr lang="fr-FR" sz="3600" dirty="0"/>
              <a:t> </a:t>
            </a:r>
            <a:r>
              <a:rPr lang="fr-FR" sz="3600" dirty="0" err="1"/>
              <a:t>there</a:t>
            </a:r>
            <a:r>
              <a:rPr lang="fr-FR" sz="3600" dirty="0"/>
              <a:t> </a:t>
            </a:r>
            <a:r>
              <a:rPr lang="fr-FR" sz="3600" dirty="0" err="1"/>
              <a:t>be</a:t>
            </a:r>
            <a:r>
              <a:rPr lang="fr-FR" sz="3600" dirty="0"/>
              <a:t> a </a:t>
            </a:r>
            <a:r>
              <a:rPr lang="fr-FR" sz="3600" dirty="0" err="1"/>
              <a:t>trade</a:t>
            </a:r>
            <a:r>
              <a:rPr lang="fr-FR" sz="3600" dirty="0"/>
              <a:t>-off?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6104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Power </a:t>
            </a:r>
            <a:r>
              <a:rPr lang="fr-FR" sz="4000" dirty="0" err="1"/>
              <a:t>Cannot</a:t>
            </a:r>
            <a:r>
              <a:rPr lang="fr-FR" sz="4000" dirty="0"/>
              <a:t> </a:t>
            </a:r>
            <a:r>
              <a:rPr lang="fr-FR" sz="4000" dirty="0" err="1"/>
              <a:t>Justify</a:t>
            </a:r>
            <a:r>
              <a:rPr lang="fr-FR" sz="4000" dirty="0"/>
              <a:t> </a:t>
            </a:r>
            <a:r>
              <a:rPr lang="fr-FR" sz="4000" dirty="0" err="1"/>
              <a:t>Within</a:t>
            </a:r>
            <a:r>
              <a:rPr lang="fr-FR" sz="4000" dirty="0"/>
              <a:t>-Condition Exclusions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E07577C-A3D9-4227-AF00-B28300CE4507}"/>
              </a:ext>
            </a:extLst>
          </p:cNvPr>
          <p:cNvSpPr txBox="1">
            <a:spLocks/>
          </p:cNvSpPr>
          <p:nvPr/>
        </p:nvSpPr>
        <p:spPr>
          <a:xfrm>
            <a:off x="942240" y="2315782"/>
            <a:ext cx="10307520" cy="11132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048" lvl="2" indent="0" algn="just">
              <a:buNone/>
            </a:pPr>
            <a:r>
              <a:rPr lang="en-US" sz="3200" dirty="0"/>
              <a:t>The tradeoff between Type I and Type II error is a fundamental property of statistical testing.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E8AB8-C60C-44BB-9CD3-338CAC878FB2}"/>
              </a:ext>
            </a:extLst>
          </p:cNvPr>
          <p:cNvSpPr txBox="1"/>
          <p:nvPr/>
        </p:nvSpPr>
        <p:spPr>
          <a:xfrm>
            <a:off x="942240" y="4554000"/>
            <a:ext cx="1030752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lvl="2" algn="just">
              <a:lnSpc>
                <a:spcPct val="90000"/>
              </a:lnSpc>
              <a:spcBef>
                <a:spcPts val="500"/>
              </a:spcBef>
            </a:pPr>
            <a:r>
              <a:rPr lang="en-US" sz="3200" dirty="0"/>
              <a:t>If you set 𝛼 = .20 rather than 𝛼 = .05, you will reject the null more often, both when you should and shouldn’t.</a:t>
            </a:r>
          </a:p>
        </p:txBody>
      </p:sp>
    </p:spTree>
    <p:extLst>
      <p:ext uri="{BB962C8B-B14F-4D97-AF65-F5344CB8AC3E}">
        <p14:creationId xmlns:p14="http://schemas.microsoft.com/office/powerpoint/2010/main" val="80850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87"/>
    </mc:Choice>
    <mc:Fallback xmlns="">
      <p:transition spd="slow" advTm="175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Power </a:t>
            </a:r>
            <a:r>
              <a:rPr lang="fr-FR" sz="4000" dirty="0" err="1"/>
              <a:t>Cannot</a:t>
            </a:r>
            <a:r>
              <a:rPr lang="fr-FR" sz="4000" dirty="0"/>
              <a:t> </a:t>
            </a:r>
            <a:r>
              <a:rPr lang="fr-FR" sz="4000" dirty="0" err="1"/>
              <a:t>Justify</a:t>
            </a:r>
            <a:r>
              <a:rPr lang="fr-FR" sz="4000" dirty="0"/>
              <a:t> </a:t>
            </a:r>
            <a:r>
              <a:rPr lang="fr-FR" sz="4000" dirty="0" err="1"/>
              <a:t>Within</a:t>
            </a:r>
            <a:r>
              <a:rPr lang="fr-FR" sz="4000" dirty="0"/>
              <a:t>-Condition Exclusions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E07577C-A3D9-4227-AF00-B28300CE4507}"/>
              </a:ext>
            </a:extLst>
          </p:cNvPr>
          <p:cNvSpPr txBox="1">
            <a:spLocks/>
          </p:cNvSpPr>
          <p:nvPr/>
        </p:nvSpPr>
        <p:spPr>
          <a:xfrm>
            <a:off x="895118" y="2035244"/>
            <a:ext cx="10307520" cy="9782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048" lvl="2" indent="0" algn="just">
              <a:buNone/>
            </a:pPr>
            <a:r>
              <a:rPr lang="en-US" sz="3200" dirty="0"/>
              <a:t>… But with within-condition exclusions, you don’t know how much you are trading!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E8AB8-C60C-44BB-9CD3-338CAC878FB2}"/>
              </a:ext>
            </a:extLst>
          </p:cNvPr>
          <p:cNvSpPr txBox="1"/>
          <p:nvPr/>
        </p:nvSpPr>
        <p:spPr>
          <a:xfrm>
            <a:off x="962760" y="3432767"/>
            <a:ext cx="1030752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lvl="2" algn="just">
              <a:lnSpc>
                <a:spcPct val="90000"/>
              </a:lnSpc>
              <a:spcBef>
                <a:spcPts val="500"/>
              </a:spcBef>
            </a:pPr>
            <a:r>
              <a:rPr lang="en-US" sz="3200" dirty="0"/>
              <a:t> Simulations show that 𝛼 can be as low as .06, or as high as .30… So how can you determine if the trade-off is worthwhile?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4ABF1-7E51-40DB-8E27-70DF41B33FA2}"/>
              </a:ext>
            </a:extLst>
          </p:cNvPr>
          <p:cNvSpPr txBox="1"/>
          <p:nvPr/>
        </p:nvSpPr>
        <p:spPr>
          <a:xfrm>
            <a:off x="962760" y="5274000"/>
            <a:ext cx="103910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3" indent="0">
              <a:spcBef>
                <a:spcPts val="1000"/>
              </a:spcBef>
              <a:buNone/>
            </a:pPr>
            <a:r>
              <a:rPr lang="en-US" sz="3200" dirty="0"/>
              <a:t>And if you get a significant result, you cannot judge how likely this result is under the null!</a:t>
            </a:r>
          </a:p>
        </p:txBody>
      </p:sp>
    </p:spTree>
    <p:extLst>
      <p:ext uri="{BB962C8B-B14F-4D97-AF65-F5344CB8AC3E}">
        <p14:creationId xmlns:p14="http://schemas.microsoft.com/office/powerpoint/2010/main" val="254702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87"/>
    </mc:Choice>
    <mc:Fallback xmlns="">
      <p:transition spd="slow" advTm="175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CE453-14A1-44FA-AA20-1EBD60DA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err="1"/>
              <a:t>Within</a:t>
            </a:r>
            <a:r>
              <a:rPr lang="fr-FR" dirty="0"/>
              <a:t>-condition exclusions are </a:t>
            </a:r>
            <a:r>
              <a:rPr lang="fr-FR" dirty="0" err="1"/>
              <a:t>common</a:t>
            </a:r>
            <a:r>
              <a:rPr lang="fr-FR" dirty="0"/>
              <a:t>, but </a:t>
            </a:r>
            <a:r>
              <a:rPr lang="fr-FR" dirty="0" err="1"/>
              <a:t>extremely</a:t>
            </a:r>
            <a:r>
              <a:rPr lang="fr-FR" dirty="0"/>
              <a:t> </a:t>
            </a:r>
            <a:r>
              <a:rPr lang="fr-FR" dirty="0" err="1"/>
              <a:t>damaging</a:t>
            </a:r>
            <a:endParaRPr lang="fr-FR" dirty="0"/>
          </a:p>
          <a:p>
            <a:pPr lvl="1"/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grossly</a:t>
            </a:r>
            <a:r>
              <a:rPr lang="fr-FR" dirty="0"/>
              <a:t> </a:t>
            </a:r>
            <a:r>
              <a:rPr lang="fr-FR" dirty="0" err="1"/>
              <a:t>inflate</a:t>
            </a:r>
            <a:r>
              <a:rPr lang="fr-FR" dirty="0"/>
              <a:t> false-positive rates</a:t>
            </a:r>
          </a:p>
          <a:p>
            <a:pPr lvl="1"/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render</a:t>
            </a:r>
            <a:r>
              <a:rPr lang="fr-FR" dirty="0"/>
              <a:t> the p-value </a:t>
            </a:r>
            <a:r>
              <a:rPr lang="fr-FR" dirty="0" err="1"/>
              <a:t>uninterpretable</a:t>
            </a:r>
            <a:endParaRPr lang="fr-FR" dirty="0"/>
          </a:p>
          <a:p>
            <a:endParaRPr lang="en-US" dirty="0"/>
          </a:p>
          <a:p>
            <a:r>
              <a:rPr lang="en-US" dirty="0"/>
              <a:t>Unlike most Questionable Research Practices, they cannot be solved by pre-registration</a:t>
            </a:r>
          </a:p>
          <a:p>
            <a:pPr lvl="1"/>
            <a:r>
              <a:rPr lang="en-US" dirty="0"/>
              <a:t>The problem is in the method itself, not in the researchers’ degrees of freedom!</a:t>
            </a:r>
          </a:p>
          <a:p>
            <a:pPr lvl="1"/>
            <a:endParaRPr lang="en-US" dirty="0"/>
          </a:p>
          <a:p>
            <a:r>
              <a:rPr lang="en-US" dirty="0"/>
              <a:t>Don’t exclude outliers by condition, and flag within-condition exclusions when you review papers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42397-52A9-4CB9-9108-3B8F7E114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fr-FR" sz="5400" dirty="0" err="1"/>
              <a:t>Curious</a:t>
            </a:r>
            <a:r>
              <a:rPr lang="fr-FR" sz="5400" dirty="0"/>
              <a:t>? Questions? </a:t>
            </a:r>
            <a:r>
              <a:rPr lang="fr-FR" sz="5400" dirty="0" err="1"/>
              <a:t>Comments</a:t>
            </a:r>
            <a:r>
              <a:rPr lang="fr-FR" sz="5400" dirty="0"/>
              <a:t>?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F90DDC-E7BD-4766-9284-B54A9C5CA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16962"/>
          </a:xfrm>
        </p:spPr>
        <p:txBody>
          <a:bodyPr>
            <a:normAutofit fontScale="92500" lnSpcReduction="10000"/>
          </a:bodyPr>
          <a:lstStyle/>
          <a:p>
            <a:r>
              <a:rPr lang="fr-FR" sz="2800" dirty="0"/>
              <a:t>OSF: osf.io/3tz76/</a:t>
            </a:r>
          </a:p>
          <a:p>
            <a:r>
              <a:rPr lang="fr-FR" sz="2800" dirty="0"/>
              <a:t>DOI: 10.1037/xge0001069</a:t>
            </a:r>
            <a:endParaRPr lang="fr-FR" sz="2800" dirty="0">
              <a:hlinkClick r:id="rId3"/>
            </a:endParaRPr>
          </a:p>
          <a:p>
            <a:endParaRPr lang="fr-FR" sz="2800" dirty="0">
              <a:hlinkClick r:id="rId3"/>
            </a:endParaRPr>
          </a:p>
          <a:p>
            <a:r>
              <a:rPr lang="fr-FR" sz="2800" dirty="0">
                <a:hlinkClick r:id="rId3"/>
              </a:rPr>
              <a:t>https://quentinandre.net</a:t>
            </a:r>
            <a:endParaRPr lang="fr-FR" sz="2800" dirty="0"/>
          </a:p>
          <a:p>
            <a:r>
              <a:rPr lang="fr-FR" sz="2800" dirty="0"/>
              <a:t>Twitter: @andre_quentin</a:t>
            </a:r>
            <a:br>
              <a:rPr lang="fr-FR" sz="2800" dirty="0"/>
            </a:b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48036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46"/>
    </mc:Choice>
    <mc:Fallback xmlns="">
      <p:transition spd="slow" advTm="1974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Residual-Based</a:t>
            </a:r>
            <a:r>
              <a:rPr lang="fr-FR" dirty="0"/>
              <a:t> Exclusions?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CC8B516-0F0F-47E0-A2AC-8FD91A2B4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94000"/>
            <a:ext cx="10058400" cy="2070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3600" dirty="0"/>
              <a:t>Observations </a:t>
            </a:r>
            <a:r>
              <a:rPr lang="fr-FR" sz="3600" dirty="0" err="1"/>
              <a:t>whose</a:t>
            </a:r>
            <a:r>
              <a:rPr lang="fr-FR" sz="3600" dirty="0"/>
              <a:t> </a:t>
            </a:r>
            <a:r>
              <a:rPr lang="fr-FR" sz="3600" dirty="0" err="1"/>
              <a:t>residuals</a:t>
            </a:r>
            <a:r>
              <a:rPr lang="fr-FR" sz="3600" dirty="0"/>
              <a:t> are « </a:t>
            </a:r>
            <a:r>
              <a:rPr lang="fr-FR" sz="3600" dirty="0" err="1"/>
              <a:t>too</a:t>
            </a:r>
            <a:r>
              <a:rPr lang="fr-FR" sz="3600" dirty="0"/>
              <a:t> </a:t>
            </a:r>
            <a:r>
              <a:rPr lang="fr-FR" sz="3600" dirty="0" err="1"/>
              <a:t>extreme</a:t>
            </a:r>
            <a:r>
              <a:rPr lang="fr-FR" sz="3600" dirty="0"/>
              <a:t>»...</a:t>
            </a:r>
          </a:p>
          <a:p>
            <a:pPr marL="0" indent="0" algn="ctr">
              <a:buNone/>
            </a:pPr>
            <a:endParaRPr lang="fr-FR" sz="3600" dirty="0"/>
          </a:p>
          <a:p>
            <a:pPr marL="0" indent="0" algn="ctr">
              <a:buNone/>
            </a:pPr>
            <a:r>
              <a:rPr lang="fr-FR" sz="3600" dirty="0"/>
              <a:t>… But </a:t>
            </a:r>
            <a:r>
              <a:rPr lang="fr-FR" sz="3600" dirty="0" err="1"/>
              <a:t>again</a:t>
            </a:r>
            <a:r>
              <a:rPr lang="fr-FR" sz="3600" dirty="0"/>
              <a:t>, </a:t>
            </a:r>
            <a:r>
              <a:rPr lang="fr-FR" sz="3600" dirty="0" err="1"/>
              <a:t>which</a:t>
            </a:r>
            <a:r>
              <a:rPr lang="fr-FR" sz="3600" dirty="0"/>
              <a:t> </a:t>
            </a:r>
            <a:r>
              <a:rPr lang="fr-FR" sz="3600" dirty="0" err="1"/>
              <a:t>residuals</a:t>
            </a:r>
            <a:r>
              <a:rPr lang="fr-FR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48140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121"/>
    </mc:Choice>
    <mc:Fallback>
      <p:transition spd="slow" advTm="1812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F34B1-7024-4D68-8D84-17B7A7B1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07800" cy="1325563"/>
          </a:xfrm>
        </p:spPr>
        <p:txBody>
          <a:bodyPr/>
          <a:lstStyle/>
          <a:p>
            <a:r>
              <a:rPr lang="fr-FR" dirty="0" err="1"/>
              <a:t>Two</a:t>
            </a:r>
            <a:r>
              <a:rPr lang="fr-FR" dirty="0"/>
              <a:t> Types of </a:t>
            </a:r>
            <a:r>
              <a:rPr lang="fr-FR" dirty="0" err="1"/>
              <a:t>Residuals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EBA3B49-B518-41A1-8DD3-87B313335744}"/>
                  </a:ext>
                </a:extLst>
              </p:cNvPr>
              <p:cNvSpPr txBox="1"/>
              <p:nvPr/>
            </p:nvSpPr>
            <p:spPr>
              <a:xfrm>
                <a:off x="741000" y="2148106"/>
                <a:ext cx="10800000" cy="1138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Hypothesis-Aware Model: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EBA3B49-B518-41A1-8DD3-87B313335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2148106"/>
                <a:ext cx="10800000" cy="1138773"/>
              </a:xfrm>
              <a:prstGeom prst="rect">
                <a:avLst/>
              </a:prstGeom>
              <a:blipFill>
                <a:blip r:embed="rId6"/>
                <a:stretch>
                  <a:fillRect l="-1468" t="-6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ECF68A6-4B46-4649-A292-F8F9ACD036FE}"/>
              </a:ext>
            </a:extLst>
          </p:cNvPr>
          <p:cNvSpPr/>
          <p:nvPr/>
        </p:nvSpPr>
        <p:spPr>
          <a:xfrm>
            <a:off x="5967964" y="2668666"/>
            <a:ext cx="450000" cy="6463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9F0CFF3-0B8F-439B-B79A-B1853BDC5639}"/>
              </a:ext>
            </a:extLst>
          </p:cNvPr>
          <p:cNvCxnSpPr>
            <a:cxnSpLocks/>
          </p:cNvCxnSpPr>
          <p:nvPr/>
        </p:nvCxnSpPr>
        <p:spPr>
          <a:xfrm flipH="1">
            <a:off x="6417964" y="2263667"/>
            <a:ext cx="585000" cy="40499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144F67BE-B78A-423F-A93F-E8040983AEB7}"/>
              </a:ext>
            </a:extLst>
          </p:cNvPr>
          <p:cNvSpPr txBox="1"/>
          <p:nvPr/>
        </p:nvSpPr>
        <p:spPr>
          <a:xfrm>
            <a:off x="7002964" y="2079000"/>
            <a:ext cx="145918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Key </a:t>
            </a:r>
            <a:r>
              <a:rPr lang="fr-FR" b="1" dirty="0" err="1">
                <a:solidFill>
                  <a:srgbClr val="C00000"/>
                </a:solidFill>
              </a:rPr>
              <a:t>Predictor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033B2D-F248-4BCE-8845-4D40CA249E06}"/>
              </a:ext>
            </a:extLst>
          </p:cNvPr>
          <p:cNvSpPr/>
          <p:nvPr/>
        </p:nvSpPr>
        <p:spPr>
          <a:xfrm>
            <a:off x="7205464" y="2668665"/>
            <a:ext cx="517500" cy="646331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1E75A81-706A-40A2-805F-84247E0AFB96}"/>
              </a:ext>
            </a:extLst>
          </p:cNvPr>
          <p:cNvCxnSpPr>
            <a:cxnSpLocks/>
          </p:cNvCxnSpPr>
          <p:nvPr/>
        </p:nvCxnSpPr>
        <p:spPr>
          <a:xfrm flipV="1">
            <a:off x="6710464" y="3314997"/>
            <a:ext cx="495000" cy="404998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2914B615-7061-4F48-9703-2F07B6A15DB3}"/>
              </a:ext>
            </a:extLst>
          </p:cNvPr>
          <p:cNvSpPr txBox="1"/>
          <p:nvPr/>
        </p:nvSpPr>
        <p:spPr>
          <a:xfrm>
            <a:off x="5548992" y="3509814"/>
            <a:ext cx="118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Covariates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AD977389-CACF-4BEC-9347-F2BF99929320}"/>
                  </a:ext>
                </a:extLst>
              </p:cNvPr>
              <p:cNvSpPr txBox="1"/>
              <p:nvPr/>
            </p:nvSpPr>
            <p:spPr>
              <a:xfrm>
                <a:off x="741000" y="4499522"/>
                <a:ext cx="10800000" cy="1138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Hypothesis-Blind Model: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AD977389-CACF-4BEC-9347-F2BF99929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4499522"/>
                <a:ext cx="10800000" cy="1138773"/>
              </a:xfrm>
              <a:prstGeom prst="rect">
                <a:avLst/>
              </a:prstGeom>
              <a:blipFill>
                <a:blip r:embed="rId7"/>
                <a:stretch>
                  <a:fillRect l="-1468" t="-6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3BADFBE7-8870-4D46-B9E5-3895F9D4ADB2}"/>
              </a:ext>
            </a:extLst>
          </p:cNvPr>
          <p:cNvSpPr/>
          <p:nvPr/>
        </p:nvSpPr>
        <p:spPr>
          <a:xfrm>
            <a:off x="6571336" y="5019040"/>
            <a:ext cx="517500" cy="646331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A5491524-0989-4B09-A76D-5A83465BFC33}"/>
              </a:ext>
            </a:extLst>
          </p:cNvPr>
          <p:cNvCxnSpPr>
            <a:cxnSpLocks/>
          </p:cNvCxnSpPr>
          <p:nvPr/>
        </p:nvCxnSpPr>
        <p:spPr>
          <a:xfrm flipV="1">
            <a:off x="6073061" y="5664329"/>
            <a:ext cx="495000" cy="404998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D4F4F1A4-DFFD-459B-A710-A4A170E8A64C}"/>
              </a:ext>
            </a:extLst>
          </p:cNvPr>
          <p:cNvSpPr txBox="1"/>
          <p:nvPr/>
        </p:nvSpPr>
        <p:spPr>
          <a:xfrm>
            <a:off x="4911589" y="5859146"/>
            <a:ext cx="118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Covariates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271581-BC0D-4C95-B794-26CECDDAC6D8}"/>
              </a:ext>
            </a:extLst>
          </p:cNvPr>
          <p:cNvSpPr/>
          <p:nvPr/>
        </p:nvSpPr>
        <p:spPr>
          <a:xfrm>
            <a:off x="8169482" y="2668665"/>
            <a:ext cx="517500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9975CF37-D5B9-471B-A679-929357CA4DD5}"/>
              </a:ext>
            </a:extLst>
          </p:cNvPr>
          <p:cNvCxnSpPr>
            <a:cxnSpLocks/>
          </p:cNvCxnSpPr>
          <p:nvPr/>
        </p:nvCxnSpPr>
        <p:spPr>
          <a:xfrm flipH="1">
            <a:off x="8751000" y="2985936"/>
            <a:ext cx="6750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A84E47F5-6953-42FE-9C13-02F6AD0B7F4F}"/>
              </a:ext>
            </a:extLst>
          </p:cNvPr>
          <p:cNvSpPr txBox="1"/>
          <p:nvPr/>
        </p:nvSpPr>
        <p:spPr>
          <a:xfrm>
            <a:off x="9490018" y="2662770"/>
            <a:ext cx="180184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fr-FR" b="1" dirty="0" err="1">
                <a:solidFill>
                  <a:schemeClr val="accent6"/>
                </a:solidFill>
              </a:rPr>
              <a:t>Predictor-Aware</a:t>
            </a:r>
            <a:r>
              <a:rPr lang="fr-FR" b="1" dirty="0">
                <a:solidFill>
                  <a:schemeClr val="accent6"/>
                </a:solidFill>
              </a:rPr>
              <a:t> </a:t>
            </a:r>
          </a:p>
          <a:p>
            <a:pPr algn="ctr"/>
            <a:r>
              <a:rPr lang="fr-FR" b="1" dirty="0" err="1">
                <a:solidFill>
                  <a:schemeClr val="accent6"/>
                </a:solidFill>
              </a:rPr>
              <a:t>Residuals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6763E2-5CF7-4F27-87DE-8B05FB0A7FE4}"/>
              </a:ext>
            </a:extLst>
          </p:cNvPr>
          <p:cNvSpPr/>
          <p:nvPr/>
        </p:nvSpPr>
        <p:spPr>
          <a:xfrm>
            <a:off x="7565464" y="5023893"/>
            <a:ext cx="517500" cy="64633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CEADED81-9087-409D-83C9-4C7D48FEA2CD}"/>
              </a:ext>
            </a:extLst>
          </p:cNvPr>
          <p:cNvCxnSpPr>
            <a:cxnSpLocks/>
          </p:cNvCxnSpPr>
          <p:nvPr/>
        </p:nvCxnSpPr>
        <p:spPr>
          <a:xfrm flipH="1">
            <a:off x="8146982" y="5341164"/>
            <a:ext cx="67500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FB10E85A-FE68-4C21-BE84-12D84B14ED72}"/>
              </a:ext>
            </a:extLst>
          </p:cNvPr>
          <p:cNvSpPr txBox="1"/>
          <p:nvPr/>
        </p:nvSpPr>
        <p:spPr>
          <a:xfrm>
            <a:off x="8949993" y="5017998"/>
            <a:ext cx="1673856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fr-FR" b="1" dirty="0" err="1">
                <a:solidFill>
                  <a:schemeClr val="accent2"/>
                </a:solidFill>
              </a:rPr>
              <a:t>Predictor</a:t>
            </a:r>
            <a:r>
              <a:rPr lang="fr-FR" b="1" dirty="0">
                <a:solidFill>
                  <a:schemeClr val="accent2"/>
                </a:solidFill>
              </a:rPr>
              <a:t>-Blind </a:t>
            </a:r>
          </a:p>
          <a:p>
            <a:pPr algn="ctr"/>
            <a:r>
              <a:rPr lang="fr-FR" b="1" dirty="0" err="1">
                <a:solidFill>
                  <a:schemeClr val="accent2"/>
                </a:solidFill>
              </a:rPr>
              <a:t>Residuals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3515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157"/>
    </mc:Choice>
    <mc:Fallback>
      <p:transition spd="slow" advTm="251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4" grpId="0" animBg="1"/>
      <p:bldP spid="16" grpId="0"/>
      <p:bldP spid="19" grpId="0"/>
      <p:bldP spid="23" grpId="0" animBg="1"/>
      <p:bldP spid="25" grpId="0"/>
      <p:bldP spid="27" grpId="0" animBg="1"/>
      <p:bldP spid="32" grpId="0"/>
      <p:bldP spid="33" grpId="0" animBg="1"/>
      <p:bldP spid="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">
            <a:extLst>
              <a:ext uri="{FF2B5EF4-FFF2-40B4-BE49-F238E27FC236}">
                <a16:creationId xmlns:a16="http://schemas.microsoft.com/office/drawing/2014/main" id="{D11C326E-E96A-4E68-AA7B-644D1518E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07800" cy="1325563"/>
          </a:xfrm>
        </p:spPr>
        <p:txBody>
          <a:bodyPr/>
          <a:lstStyle/>
          <a:p>
            <a:r>
              <a:rPr lang="fr-FR" dirty="0" err="1"/>
              <a:t>Simulated</a:t>
            </a:r>
            <a:r>
              <a:rPr lang="fr-FR" dirty="0"/>
              <a:t> </a:t>
            </a:r>
            <a:r>
              <a:rPr lang="fr-FR" dirty="0" err="1"/>
              <a:t>Experiments</a:t>
            </a: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7C946E9-5E51-4C7C-AF42-CA18DA0846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39" r="63488"/>
          <a:stretch/>
        </p:blipFill>
        <p:spPr>
          <a:xfrm>
            <a:off x="2586000" y="1584000"/>
            <a:ext cx="7020000" cy="519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04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710"/>
    </mc:Choice>
    <mc:Fallback>
      <p:transition spd="slow" advTm="1571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2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12.4|14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12.4|14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12.4|14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2.2|2|1.2|4.7|3.3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TM03090430[[fn=À bandes]]</Template>
  <TotalTime>6137</TotalTime>
  <Words>681</Words>
  <Application>Microsoft Office PowerPoint</Application>
  <PresentationFormat>Widescreen</PresentationFormat>
  <Paragraphs>124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Thème Office</vt:lpstr>
      <vt:lpstr>Outlier Exclusion Procedures Must Be Hypothesis-Blind</vt:lpstr>
      <vt:lpstr>Outliers?</vt:lpstr>
      <vt:lpstr>An Illustration with Boxplot</vt:lpstr>
      <vt:lpstr>What Has Been Argued?</vt:lpstr>
      <vt:lpstr>The Correct Answer?</vt:lpstr>
      <vt:lpstr>But Why?</vt:lpstr>
      <vt:lpstr>How So?</vt:lpstr>
      <vt:lpstr>How So?</vt:lpstr>
      <vt:lpstr>How Bad Can This Be? Simulated Experiments</vt:lpstr>
      <vt:lpstr>Results - Simulated Experiments</vt:lpstr>
      <vt:lpstr>Results - Simulated Experiments</vt:lpstr>
      <vt:lpstr>Results - Simulated Experiments</vt:lpstr>
      <vt:lpstr>Results - Simulated Experiments</vt:lpstr>
      <vt:lpstr>PowerPoint Presentation</vt:lpstr>
      <vt:lpstr>What About Real Data?</vt:lpstr>
      <vt:lpstr>What About Real Data?</vt:lpstr>
      <vt:lpstr>What About Real Data?</vt:lpstr>
      <vt:lpstr>Simulation – Real Data</vt:lpstr>
      <vt:lpstr>Results – Real Data</vt:lpstr>
      <vt:lpstr>Results – Real Data</vt:lpstr>
      <vt:lpstr>Results – Real Data</vt:lpstr>
      <vt:lpstr>Results – Real Data</vt:lpstr>
      <vt:lpstr>But What About Power? </vt:lpstr>
      <vt:lpstr>Power Cannot Justify Within-Condition Exclusions</vt:lpstr>
      <vt:lpstr>Power Cannot Justify Within-Condition Exclusions</vt:lpstr>
      <vt:lpstr>Conclusions</vt:lpstr>
      <vt:lpstr>Curious? Questions? Comments?</vt:lpstr>
      <vt:lpstr>Residual-Based Exclusions?</vt:lpstr>
      <vt:lpstr>Two Types of Residuals</vt:lpstr>
      <vt:lpstr>Simulated Experiments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Perils of Personas</dc:title>
  <dc:creator>Quentin Andre</dc:creator>
  <cp:lastModifiedBy>Quentin Andre</cp:lastModifiedBy>
  <cp:revision>121</cp:revision>
  <dcterms:created xsi:type="dcterms:W3CDTF">2020-09-25T12:07:11Z</dcterms:created>
  <dcterms:modified xsi:type="dcterms:W3CDTF">2021-10-30T17:36:03Z</dcterms:modified>
</cp:coreProperties>
</file>